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0000"/>
    <a:srgbClr val="FF6600"/>
    <a:srgbClr val="FFFFFF"/>
    <a:srgbClr val="F9F1F1"/>
    <a:srgbClr val="FAF8F0"/>
    <a:srgbClr val="534A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682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Refill Risk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late medication refills from dispensing patterns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3185160"/>
            <a:ext cx="537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 Hackathon – Track 1 (Healthcare &amp;  Digital Pharmacy)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Nilavan Sritharan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Deepika Sivakumar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Aditya Oruganti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A - The Problem 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predict which patient-drug pairs will refill late — before they run out?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046720" cy="146304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864" cy="146304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definition (per hackathon spec)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expected_runout = SRVC_DT + DAYS_SUPLY_NUM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= next_fill_date - expected_runout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 = 1  if  gap &gt; 7 days  (grace window)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1828800" cy="1097280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Dispensing events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3474720"/>
            <a:ext cx="1828800" cy="1097280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743200" y="3566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99.5K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74320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3474720"/>
            <a:ext cx="1828800" cy="1097280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37760" y="3566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247K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93776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Patient-drug pairs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0" y="3474720"/>
            <a:ext cx="1828800" cy="1097280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132320" y="3566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69.6%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13232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rate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Grouping Challenge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NDC codes are randomised — systematic prefix analysis found the workable level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16916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Groups &gt;= 3 fills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NDC-11 (exact)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503,683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Unusable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NDC-9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117,029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 sparse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NDC-7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14,761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65,314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Possible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NDC-5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3,741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247,167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EEF2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48640" y="3657600"/>
            <a:ext cx="54864" cy="109728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22960" y="3749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real Pharmacy2U data using dm+d/BNF codes, this workaround is unnecessary — drug-level chains would be built directly.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Model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227908" y="910590"/>
            <a:ext cx="3086101" cy="1875173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227909" y="910590"/>
            <a:ext cx="3063240" cy="4572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229" y="1139190"/>
            <a:ext cx="320040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65069" y="1047750"/>
            <a:ext cx="502920" cy="50292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509" y="113919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50869" y="104775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387929" y="1336841"/>
            <a:ext cx="3383280" cy="1482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Target: </a:t>
            </a:r>
            <a:r>
              <a:rPr lang="en-US" sz="900" dirty="0">
                <a:solidFill>
                  <a:srgbClr val="6B7280"/>
                </a:solidFill>
              </a:rPr>
              <a:t>Will refill be late? (binary)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Metric: </a:t>
            </a:r>
            <a:r>
              <a:rPr lang="en-US" sz="900" dirty="0">
                <a:solidFill>
                  <a:srgbClr val="6B7280"/>
                </a:solidFill>
              </a:rPr>
              <a:t>PR-AUC + calibration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Calibration: </a:t>
            </a:r>
            <a:r>
              <a:rPr lang="en-US" sz="900" dirty="0">
                <a:solidFill>
                  <a:srgbClr val="6B7280"/>
                </a:solidFill>
              </a:rPr>
              <a:t>Isotonic (on validation set)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Output: </a:t>
            </a:r>
            <a:r>
              <a:rPr lang="en-US" sz="900" dirty="0">
                <a:solidFill>
                  <a:srgbClr val="6B7280"/>
                </a:solidFill>
              </a:rPr>
              <a:t>Usable risk score (0–1)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Interpretation: </a:t>
            </a:r>
            <a:r>
              <a:rPr lang="en-US" sz="900" dirty="0">
                <a:solidFill>
                  <a:srgbClr val="6B7280"/>
                </a:solidFill>
              </a:rPr>
              <a:t>SHAP feature importance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983480" y="918029"/>
            <a:ext cx="3063240" cy="1875173"/>
          </a:xfrm>
          <a:prstGeom prst="rect">
            <a:avLst/>
          </a:prstGeom>
          <a:solidFill>
            <a:srgbClr val="EEF2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4976949" y="918029"/>
            <a:ext cx="3063240" cy="80666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5074920" y="1018286"/>
            <a:ext cx="502920" cy="50292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109726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82345" y="1064006"/>
            <a:ext cx="25320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 Analysis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(Cox PH)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189220" y="1387967"/>
            <a:ext cx="2547257" cy="1385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b="1">
                <a:solidFill>
                  <a:srgbClr val="1E293B"/>
                </a:solidFill>
              </a:rPr>
              <a:t>Target: </a:t>
            </a:r>
            <a:r>
              <a:rPr lang="en-US" sz="900">
                <a:solidFill>
                  <a:srgbClr val="6B7280"/>
                </a:solidFill>
              </a:rPr>
              <a:t>Days until next refill</a:t>
            </a:r>
            <a:endParaRPr lang="en-US" sz="900"/>
          </a:p>
          <a:p>
            <a:pPr marL="0" indent="0">
              <a:lnSpc>
                <a:spcPct val="150000"/>
              </a:lnSpc>
              <a:buNone/>
            </a:pPr>
            <a:r>
              <a:rPr lang="en-US" sz="900" b="1">
                <a:solidFill>
                  <a:srgbClr val="1E293B"/>
                </a:solidFill>
              </a:rPr>
              <a:t>Metric: </a:t>
            </a:r>
            <a:r>
              <a:rPr lang="en-US" sz="900">
                <a:solidFill>
                  <a:srgbClr val="6B7280"/>
                </a:solidFill>
              </a:rPr>
              <a:t>C-index</a:t>
            </a:r>
            <a:endParaRPr lang="en-US" sz="900"/>
          </a:p>
          <a:p>
            <a:pPr marL="0" indent="0">
              <a:lnSpc>
                <a:spcPct val="150000"/>
              </a:lnSpc>
              <a:buNone/>
            </a:pPr>
            <a:r>
              <a:rPr lang="en-US" sz="900" b="1">
                <a:solidFill>
                  <a:srgbClr val="1E293B"/>
                </a:solidFill>
              </a:rPr>
              <a:t>Censoring: </a:t>
            </a:r>
            <a:r>
              <a:rPr lang="en-US" sz="900">
                <a:solidFill>
                  <a:srgbClr val="6B7280"/>
                </a:solidFill>
              </a:rPr>
              <a:t>247K intervals XGBoost can't use</a:t>
            </a:r>
            <a:endParaRPr lang="en-US" sz="900"/>
          </a:p>
          <a:p>
            <a:pPr marL="0" indent="0">
              <a:lnSpc>
                <a:spcPct val="150000"/>
              </a:lnSpc>
              <a:buNone/>
            </a:pPr>
            <a:r>
              <a:rPr lang="en-US" sz="900" b="1">
                <a:solidFill>
                  <a:srgbClr val="1E293B"/>
                </a:solidFill>
              </a:rPr>
              <a:t>Output: </a:t>
            </a:r>
            <a:r>
              <a:rPr lang="en-US" sz="900">
                <a:solidFill>
                  <a:srgbClr val="6B7280"/>
                </a:solidFill>
              </a:rPr>
              <a:t>KM curves + hazard ratios</a:t>
            </a:r>
            <a:endParaRPr lang="en-US" sz="900"/>
          </a:p>
          <a:p>
            <a:pPr marL="0" indent="0">
              <a:lnSpc>
                <a:spcPct val="150000"/>
              </a:lnSpc>
              <a:buNone/>
            </a:pPr>
            <a:r>
              <a:rPr lang="en-US" sz="900" b="1">
                <a:solidFill>
                  <a:srgbClr val="1E293B"/>
                </a:solidFill>
              </a:rPr>
              <a:t>Advantage: </a:t>
            </a:r>
            <a:r>
              <a:rPr lang="en-US" sz="900">
                <a:solidFill>
                  <a:srgbClr val="6B7280"/>
                </a:solidFill>
              </a:rPr>
              <a:t>Scores patients XGBoost drops</a:t>
            </a:r>
            <a:endParaRPr 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53C211-77F7-2B3F-57F4-20557C9075E9}"/>
              </a:ext>
            </a:extLst>
          </p:cNvPr>
          <p:cNvSpPr txBox="1"/>
          <p:nvPr/>
        </p:nvSpPr>
        <p:spPr>
          <a:xfrm>
            <a:off x="444137" y="2977862"/>
            <a:ext cx="2449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504F1E5E-8566-6818-E8BE-5CA221A5D062}"/>
              </a:ext>
            </a:extLst>
          </p:cNvPr>
          <p:cNvSpPr/>
          <p:nvPr/>
        </p:nvSpPr>
        <p:spPr>
          <a:xfrm>
            <a:off x="548640" y="3347194"/>
            <a:ext cx="2730137" cy="563009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6B7FBAE4-485F-0177-CD3F-73220E3D48E9}"/>
              </a:ext>
            </a:extLst>
          </p:cNvPr>
          <p:cNvSpPr/>
          <p:nvPr/>
        </p:nvSpPr>
        <p:spPr>
          <a:xfrm>
            <a:off x="548639" y="4062603"/>
            <a:ext cx="2730137" cy="563009"/>
          </a:xfrm>
          <a:prstGeom prst="rect">
            <a:avLst/>
          </a:prstGeom>
          <a:solidFill>
            <a:srgbClr val="F9F1F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70494932-36E0-F863-F509-4F216E43D720}"/>
              </a:ext>
            </a:extLst>
          </p:cNvPr>
          <p:cNvSpPr/>
          <p:nvPr/>
        </p:nvSpPr>
        <p:spPr>
          <a:xfrm>
            <a:off x="3446417" y="3343002"/>
            <a:ext cx="2730137" cy="5630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71BE854D-0272-E714-3FCF-113CC18C99E3}"/>
              </a:ext>
            </a:extLst>
          </p:cNvPr>
          <p:cNvSpPr/>
          <p:nvPr/>
        </p:nvSpPr>
        <p:spPr>
          <a:xfrm>
            <a:off x="3446417" y="4052096"/>
            <a:ext cx="2730137" cy="5630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0F72A3C1-2841-8083-4BD6-08D77A3E4389}"/>
              </a:ext>
            </a:extLst>
          </p:cNvPr>
          <p:cNvSpPr/>
          <p:nvPr/>
        </p:nvSpPr>
        <p:spPr>
          <a:xfrm>
            <a:off x="6344194" y="3347192"/>
            <a:ext cx="2730137" cy="5630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0234E16C-0F86-CC23-37E4-ECD112550206}"/>
              </a:ext>
            </a:extLst>
          </p:cNvPr>
          <p:cNvSpPr/>
          <p:nvPr/>
        </p:nvSpPr>
        <p:spPr>
          <a:xfrm>
            <a:off x="6344193" y="4084266"/>
            <a:ext cx="2730137" cy="563009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E1A63-6AB0-A18C-7200-953ADE1EAA5C}"/>
              </a:ext>
            </a:extLst>
          </p:cNvPr>
          <p:cNvSpPr txBox="1"/>
          <p:nvPr/>
        </p:nvSpPr>
        <p:spPr>
          <a:xfrm>
            <a:off x="617220" y="3361571"/>
            <a:ext cx="1143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Statistics</a:t>
            </a:r>
            <a:endParaRPr lang="en-US" sz="1050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63F4266A-1078-5C64-1FEE-1E076866A1B1}"/>
              </a:ext>
            </a:extLst>
          </p:cNvPr>
          <p:cNvSpPr/>
          <p:nvPr/>
        </p:nvSpPr>
        <p:spPr>
          <a:xfrm rot="5400000">
            <a:off x="289994" y="3605839"/>
            <a:ext cx="563011" cy="45719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3BD9ACB7-7F9C-BA6B-20F0-90320A07DFEF}"/>
              </a:ext>
            </a:extLst>
          </p:cNvPr>
          <p:cNvSpPr/>
          <p:nvPr/>
        </p:nvSpPr>
        <p:spPr>
          <a:xfrm rot="5400000">
            <a:off x="289994" y="4321247"/>
            <a:ext cx="563011" cy="45719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0B8CD1EC-2A43-1012-E7A7-3F6FAE9EB807}"/>
              </a:ext>
            </a:extLst>
          </p:cNvPr>
          <p:cNvSpPr/>
          <p:nvPr/>
        </p:nvSpPr>
        <p:spPr>
          <a:xfrm rot="5400000">
            <a:off x="3196090" y="3595505"/>
            <a:ext cx="553990" cy="48983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D3CA3C38-516D-04DF-8672-E0E7254C930E}"/>
              </a:ext>
            </a:extLst>
          </p:cNvPr>
          <p:cNvSpPr/>
          <p:nvPr/>
        </p:nvSpPr>
        <p:spPr>
          <a:xfrm rot="5400000">
            <a:off x="6103114" y="3592627"/>
            <a:ext cx="536586" cy="45719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2115FF37-9108-D405-ED59-EB45C1283057}"/>
              </a:ext>
            </a:extLst>
          </p:cNvPr>
          <p:cNvSpPr/>
          <p:nvPr/>
        </p:nvSpPr>
        <p:spPr>
          <a:xfrm rot="5400000">
            <a:off x="3187769" y="4321247"/>
            <a:ext cx="563011" cy="45719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B087BE59-CE6D-02CF-D2A3-A5D8669F6FC1}"/>
              </a:ext>
            </a:extLst>
          </p:cNvPr>
          <p:cNvSpPr/>
          <p:nvPr/>
        </p:nvSpPr>
        <p:spPr>
          <a:xfrm rot="5400000">
            <a:off x="6089902" y="4321249"/>
            <a:ext cx="563011" cy="45719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86352A-0915-CBEE-080C-2788D54EE9A1}"/>
              </a:ext>
            </a:extLst>
          </p:cNvPr>
          <p:cNvSpPr txBox="1"/>
          <p:nvPr/>
        </p:nvSpPr>
        <p:spPr>
          <a:xfrm>
            <a:off x="3520440" y="3361571"/>
            <a:ext cx="1143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Stockpiling</a:t>
            </a:r>
            <a:endParaRPr lang="en-US" sz="10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E5F45C-05E4-D84A-1886-B6D28573E72E}"/>
              </a:ext>
            </a:extLst>
          </p:cNvPr>
          <p:cNvSpPr txBox="1"/>
          <p:nvPr/>
        </p:nvSpPr>
        <p:spPr>
          <a:xfrm>
            <a:off x="6423659" y="3361571"/>
            <a:ext cx="184512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 Stability</a:t>
            </a:r>
            <a:endParaRPr lang="en-US" sz="1050" dirty="0">
              <a:solidFill>
                <a:srgbClr val="534AB7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133454-F29A-6E46-76CF-BAFBA04A039E}"/>
              </a:ext>
            </a:extLst>
          </p:cNvPr>
          <p:cNvSpPr txBox="1"/>
          <p:nvPr/>
        </p:nvSpPr>
        <p:spPr>
          <a:xfrm>
            <a:off x="571499" y="4084266"/>
            <a:ext cx="1143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patterns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B4B6DF-DDCE-59B3-C79A-11FA1C1FAD98}"/>
              </a:ext>
            </a:extLst>
          </p:cNvPr>
          <p:cNvSpPr txBox="1"/>
          <p:nvPr/>
        </p:nvSpPr>
        <p:spPr>
          <a:xfrm>
            <a:off x="3469274" y="4071620"/>
            <a:ext cx="178852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Patterns</a:t>
            </a:r>
            <a:endParaRPr lang="en-US" sz="1050" dirty="0">
              <a:solidFill>
                <a:srgbClr val="0070C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59BBAF-317E-C849-75C6-DC13D160FADC}"/>
              </a:ext>
            </a:extLst>
          </p:cNvPr>
          <p:cNvSpPr txBox="1"/>
          <p:nvPr/>
        </p:nvSpPr>
        <p:spPr>
          <a:xfrm>
            <a:off x="6367049" y="4058974"/>
            <a:ext cx="1143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Polypharmacy</a:t>
            </a:r>
            <a:endParaRPr lang="en-US" sz="105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40EE57-6261-8B22-E65E-B05708CEF23F}"/>
              </a:ext>
            </a:extLst>
          </p:cNvPr>
          <p:cNvSpPr txBox="1"/>
          <p:nvPr/>
        </p:nvSpPr>
        <p:spPr>
          <a:xfrm>
            <a:off x="623751" y="3598162"/>
            <a:ext cx="17428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Rolling mean, std, CV, trend, max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A2F22D-7621-EB97-2407-8A04A6E6D430}"/>
              </a:ext>
            </a:extLst>
          </p:cNvPr>
          <p:cNvSpPr txBox="1"/>
          <p:nvPr/>
        </p:nvSpPr>
        <p:spPr>
          <a:xfrm>
            <a:off x="3520439" y="3623446"/>
            <a:ext cx="212924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refill flag, days banked, stockpile</a:t>
            </a:r>
            <a:endParaRPr lang="en-IN" sz="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2DAD59-9268-2127-F8D5-42F86B8AA1D7}"/>
              </a:ext>
            </a:extLst>
          </p:cNvPr>
          <p:cNvSpPr txBox="1"/>
          <p:nvPr/>
        </p:nvSpPr>
        <p:spPr>
          <a:xfrm>
            <a:off x="6417129" y="3648730"/>
            <a:ext cx="17428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Regularity score, historical late 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123A66-B421-A660-15E9-9CA51E96D036}"/>
              </a:ext>
            </a:extLst>
          </p:cNvPr>
          <p:cNvSpPr txBox="1"/>
          <p:nvPr/>
        </p:nvSpPr>
        <p:spPr>
          <a:xfrm>
            <a:off x="571499" y="4321966"/>
            <a:ext cx="21651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 pay, cost, burden ratio, pay change</a:t>
            </a:r>
            <a:endParaRPr lang="en-IN" sz="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8B8BD2-F876-B9F4-8D53-4C2C5D1E4F08}"/>
              </a:ext>
            </a:extLst>
          </p:cNvPr>
          <p:cNvSpPr txBox="1"/>
          <p:nvPr/>
        </p:nvSpPr>
        <p:spPr>
          <a:xfrm>
            <a:off x="3514984" y="4319249"/>
            <a:ext cx="17428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Qty per day, qty changed flag</a:t>
            </a:r>
            <a:endParaRPr lang="en-IN" sz="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4470D8-9EA2-03F1-C3D7-53F21DF92802}"/>
              </a:ext>
            </a:extLst>
          </p:cNvPr>
          <p:cNvSpPr txBox="1"/>
          <p:nvPr/>
        </p:nvSpPr>
        <p:spPr>
          <a:xfrm>
            <a:off x="6458469" y="4316532"/>
            <a:ext cx="17428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 drugs, 90-day fill count</a:t>
            </a:r>
            <a:endParaRPr lang="en-IN" sz="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022167" cy="1645920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60883" y="1528354"/>
            <a:ext cx="9862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0.709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3753" y="1920240"/>
            <a:ext cx="7903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5586" y="2240280"/>
            <a:ext cx="8882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 0.560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94509" y="1086829"/>
            <a:ext cx="1103811" cy="1666822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876151" y="1502229"/>
            <a:ext cx="9405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0.688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08411" y="1887583"/>
            <a:ext cx="718457" cy="195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31667" y="2240280"/>
            <a:ext cx="871946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random: 0.500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04056" y="1097280"/>
            <a:ext cx="1103811" cy="1656371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187333" y="1502229"/>
            <a:ext cx="927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0.228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49386" y="1887583"/>
            <a:ext cx="829491" cy="209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Brier Score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73478" y="2197825"/>
            <a:ext cx="555171" cy="163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92381" y="1097280"/>
            <a:ext cx="1103810" cy="1666822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29540" y="1502229"/>
            <a:ext cx="8294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0.633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13210" y="1881052"/>
            <a:ext cx="862149" cy="209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Cox C-index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94852" y="2236361"/>
            <a:ext cx="698863" cy="104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random: 0.500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524824"/>
              </p:ext>
            </p:extLst>
          </p:nvPr>
        </p:nvGraphicFramePr>
        <p:xfrm>
          <a:off x="548641" y="3200400"/>
          <a:ext cx="4947550" cy="1371600"/>
        </p:xfrm>
        <a:graphic>
          <a:graphicData uri="http://schemas.openxmlformats.org/drawingml/2006/table">
            <a:tbl>
              <a:tblPr/>
              <a:tblGrid>
                <a:gridCol w="843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5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5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684,871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Jul 2009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188,964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2009 – Jan 2010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148,071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&gt;= Jan 2010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48640" y="463731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splits only — no random splits, no data leakage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FAC6F79-1E3F-3517-020C-789CB5A94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428" y="1117387"/>
            <a:ext cx="3095969" cy="115624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AF60CC1-57BB-41F4-43BA-D2F2201DDEED}"/>
              </a:ext>
            </a:extLst>
          </p:cNvPr>
          <p:cNvSpPr txBox="1"/>
          <p:nvPr/>
        </p:nvSpPr>
        <p:spPr>
          <a:xfrm>
            <a:off x="5863594" y="793809"/>
            <a:ext cx="25439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– PR-AUC +Calibration</a:t>
            </a:r>
            <a:endParaRPr lang="en-US" sz="12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A255E21-846A-A13E-7A93-1A340144C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1126" y="3196058"/>
            <a:ext cx="3037114" cy="115363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F0F5BAD-7F54-58B4-5396-43E93AD469F1}"/>
              </a:ext>
            </a:extLst>
          </p:cNvPr>
          <p:cNvSpPr txBox="1"/>
          <p:nvPr/>
        </p:nvSpPr>
        <p:spPr>
          <a:xfrm>
            <a:off x="5772968" y="2884137"/>
            <a:ext cx="29734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Isotonic Calibration – (Before vs After)</a:t>
            </a:r>
            <a:endParaRPr lang="en-US" sz="1200" dirty="0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53464425-A351-ED77-5F42-7E02372C4480}"/>
              </a:ext>
            </a:extLst>
          </p:cNvPr>
          <p:cNvSpPr/>
          <p:nvPr/>
        </p:nvSpPr>
        <p:spPr>
          <a:xfrm>
            <a:off x="548640" y="1105116"/>
            <a:ext cx="1022167" cy="64009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DB41128E-BC70-6DA1-1873-F26D65CB4CEF}"/>
              </a:ext>
            </a:extLst>
          </p:cNvPr>
          <p:cNvSpPr/>
          <p:nvPr/>
        </p:nvSpPr>
        <p:spPr>
          <a:xfrm>
            <a:off x="1794510" y="1092054"/>
            <a:ext cx="1103810" cy="64009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6E3486B5-6D7C-4EE2-3E44-A3BDBEE81A36}"/>
              </a:ext>
            </a:extLst>
          </p:cNvPr>
          <p:cNvSpPr/>
          <p:nvPr/>
        </p:nvSpPr>
        <p:spPr>
          <a:xfrm>
            <a:off x="3099158" y="1092054"/>
            <a:ext cx="1103810" cy="64009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IN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158282EF-5D16-5E8A-6C96-B89C7B309B0C}"/>
              </a:ext>
            </a:extLst>
          </p:cNvPr>
          <p:cNvSpPr/>
          <p:nvPr/>
        </p:nvSpPr>
        <p:spPr>
          <a:xfrm>
            <a:off x="4387482" y="1098586"/>
            <a:ext cx="1103810" cy="64009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IN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— Actionable Outputs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275320" cy="1828800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table — 77,828 patient-drug pairs scored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743212"/>
              </p:ext>
            </p:extLst>
          </p:nvPr>
        </p:nvGraphicFramePr>
        <p:xfrm>
          <a:off x="731520" y="1508760"/>
          <a:ext cx="4924695" cy="1164336"/>
        </p:xfrm>
        <a:graphic>
          <a:graphicData uri="http://schemas.openxmlformats.org/drawingml/2006/table">
            <a:tbl>
              <a:tblPr/>
              <a:tblGrid>
                <a:gridCol w="1193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1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9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53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53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Patient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 history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EC78AF74...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58016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2010-01-28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1324E861...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58016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2010-03-02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D6C90AEA...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58016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2010-03-28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180813"/>
            <a:ext cx="2606040" cy="75438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5"/>
          <p:cNvSpPr/>
          <p:nvPr/>
        </p:nvSpPr>
        <p:spPr>
          <a:xfrm>
            <a:off x="548640" y="3180813"/>
            <a:ext cx="2606040" cy="4572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85800" y="3317973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table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3752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77,828 pairs with Low/Med/High tiers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3180813"/>
            <a:ext cx="2606040" cy="754380"/>
          </a:xfrm>
          <a:prstGeom prst="rect">
            <a:avLst/>
          </a:prstGeom>
          <a:solidFill>
            <a:srgbClr val="EEF2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383280" y="3180813"/>
            <a:ext cx="2606040" cy="4572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520440" y="3317973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timelines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520440" y="3363693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+ grace + late + risk overlay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3180813"/>
            <a:ext cx="2606040" cy="75438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217920" y="3180813"/>
            <a:ext cx="2606040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355080" y="3317973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+ Cox drivers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55080" y="3363693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+ hazard ratios</a:t>
            </a:r>
            <a:endParaRPr lang="en-US" sz="1100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B54C5212-24A9-6835-6BD7-12C588B2FCED}"/>
              </a:ext>
            </a:extLst>
          </p:cNvPr>
          <p:cNvSpPr/>
          <p:nvPr/>
        </p:nvSpPr>
        <p:spPr>
          <a:xfrm>
            <a:off x="1965960" y="4164051"/>
            <a:ext cx="2606040" cy="75438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CE285D66-0E68-07D5-A035-F3D85C1F19DF}"/>
              </a:ext>
            </a:extLst>
          </p:cNvPr>
          <p:cNvSpPr/>
          <p:nvPr/>
        </p:nvSpPr>
        <p:spPr>
          <a:xfrm>
            <a:off x="1965960" y="4164051"/>
            <a:ext cx="2606040" cy="4572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7C9BADF0-DE9B-8F1E-446F-3ECEC1872B82}"/>
              </a:ext>
            </a:extLst>
          </p:cNvPr>
          <p:cNvSpPr/>
          <p:nvPr/>
        </p:nvSpPr>
        <p:spPr>
          <a:xfrm>
            <a:off x="4960620" y="4164051"/>
            <a:ext cx="2606040" cy="754380"/>
          </a:xfrm>
          <a:prstGeom prst="rect">
            <a:avLst/>
          </a:prstGeom>
          <a:solidFill>
            <a:srgbClr val="EEF2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48362BD1-1688-E905-EB68-DF5F5C86AE34}"/>
              </a:ext>
            </a:extLst>
          </p:cNvPr>
          <p:cNvSpPr/>
          <p:nvPr/>
        </p:nvSpPr>
        <p:spPr>
          <a:xfrm>
            <a:off x="4960620" y="4164051"/>
            <a:ext cx="2606040" cy="4572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76835F9-3CE5-316B-0165-899F76E9D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15" y="1645920"/>
            <a:ext cx="2856345" cy="99669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9B4E14E-D920-610D-2AB9-F7EDDEF1F6EF}"/>
              </a:ext>
            </a:extLst>
          </p:cNvPr>
          <p:cNvSpPr txBox="1"/>
          <p:nvPr/>
        </p:nvSpPr>
        <p:spPr>
          <a:xfrm>
            <a:off x="5811915" y="1169133"/>
            <a:ext cx="24806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Risk score: 1.00 | Tier: High | Late history: 100% | Fills: 2</a:t>
            </a:r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7E1A29EF-0AB8-AE05-3A30-507CFED0BF79}"/>
              </a:ext>
            </a:extLst>
          </p:cNvPr>
          <p:cNvSpPr/>
          <p:nvPr/>
        </p:nvSpPr>
        <p:spPr>
          <a:xfrm>
            <a:off x="2080260" y="4230345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Limitation</a:t>
            </a:r>
            <a:endParaRPr lang="en-US" sz="13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B5CF41-9621-A886-1E44-E3CBAD670390}"/>
              </a:ext>
            </a:extLst>
          </p:cNvPr>
          <p:cNvSpPr txBox="1"/>
          <p:nvPr/>
        </p:nvSpPr>
        <p:spPr>
          <a:xfrm>
            <a:off x="548640" y="4458999"/>
            <a:ext cx="32591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9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203C1472-70A8-17CB-463E-DCA8A3A2265A}"/>
              </a:ext>
            </a:extLst>
          </p:cNvPr>
          <p:cNvSpPr/>
          <p:nvPr/>
        </p:nvSpPr>
        <p:spPr>
          <a:xfrm>
            <a:off x="2080260" y="431388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800" b="1" dirty="0">
                <a:latin typeface="Arial" panose="020B0604020202020204" pitchFamily="34" charset="0"/>
                <a:cs typeface="Arial" panose="020B0604020202020204" pitchFamily="34" charset="0"/>
              </a:rPr>
              <a:t>Temporal autocorrelation</a:t>
            </a:r>
            <a:r>
              <a:rPr lang="en-IN" sz="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absent (lift = 1.00x)</a:t>
            </a:r>
          </a:p>
          <a:p>
            <a:r>
              <a:rPr lang="en-IN" sz="800" b="1" dirty="0">
                <a:latin typeface="Arial" panose="020B0604020202020204" pitchFamily="34" charset="0"/>
                <a:cs typeface="Arial" panose="020B0604020202020204" pitchFamily="34" charset="0"/>
              </a:rPr>
              <a:t>Cross-sectional features: </a:t>
            </a:r>
            <a:r>
              <a:rPr lang="en-IN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flat across quartiles</a:t>
            </a: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1DF365E6-3E5C-3604-9530-CF9F63203168}"/>
              </a:ext>
            </a:extLst>
          </p:cNvPr>
          <p:cNvSpPr/>
          <p:nvPr/>
        </p:nvSpPr>
        <p:spPr>
          <a:xfrm>
            <a:off x="5074920" y="42011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Real Pharmacy2U data</a:t>
            </a:r>
            <a:endParaRPr lang="en-US" sz="1050" dirty="0">
              <a:solidFill>
                <a:srgbClr val="534AB7"/>
              </a:solidFill>
            </a:endParaRP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A17128AE-2E92-D8ED-F9F2-21F389AA10B2}"/>
              </a:ext>
            </a:extLst>
          </p:cNvPr>
          <p:cNvSpPr/>
          <p:nvPr/>
        </p:nvSpPr>
        <p:spPr>
          <a:xfrm>
            <a:off x="5097780" y="4270499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dm+d/BNF codes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drug-level chains</a:t>
            </a:r>
          </a:p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Temporal persistence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dominant predictor</a:t>
            </a:r>
            <a:endParaRPr lang="en-IN" sz="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513</Words>
  <Application>Microsoft Office PowerPoint</Application>
  <PresentationFormat>On-screen Show (16:9)</PresentationFormat>
  <Paragraphs>148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Refill Irregularity Detection</dc:title>
  <dc:subject>PptxGenJS Presentation</dc:subject>
  <dc:creator>Nilavan</dc:creator>
  <cp:lastModifiedBy>Aditya Pathanjali Sastry Oruganti [plfq0573]</cp:lastModifiedBy>
  <cp:revision>18</cp:revision>
  <dcterms:created xsi:type="dcterms:W3CDTF">2026-03-31T08:06:15Z</dcterms:created>
  <dcterms:modified xsi:type="dcterms:W3CDTF">2026-03-31T10:47:13Z</dcterms:modified>
</cp:coreProperties>
</file>